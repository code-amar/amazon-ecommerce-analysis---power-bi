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47806D-A8AA-9940-8188-CEFFF25A9228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GB"/>
        </a:p>
      </dgm:t>
    </dgm:pt>
    <dgm:pt modelId="{7B941B76-B3AD-1F40-9843-D71B9AD7F6A8}">
      <dgm:prSet/>
      <dgm:spPr/>
      <dgm:t>
        <a:bodyPr/>
        <a:lstStyle/>
        <a:p>
          <a:r>
            <a:rPr lang="en-US"/>
            <a:t>Presented by:  Amar</a:t>
          </a:r>
          <a:endParaRPr lang="en-IN"/>
        </a:p>
      </dgm:t>
    </dgm:pt>
    <dgm:pt modelId="{038CCA04-73F3-3542-B79E-91AB8F6E55ED}" type="parTrans" cxnId="{07997241-1CE6-4043-B9EC-7370486F4FBE}">
      <dgm:prSet/>
      <dgm:spPr/>
      <dgm:t>
        <a:bodyPr/>
        <a:lstStyle/>
        <a:p>
          <a:endParaRPr lang="en-GB"/>
        </a:p>
      </dgm:t>
    </dgm:pt>
    <dgm:pt modelId="{424E0819-A9F2-0548-B6A5-755989002132}" type="sibTrans" cxnId="{07997241-1CE6-4043-B9EC-7370486F4FBE}">
      <dgm:prSet/>
      <dgm:spPr/>
      <dgm:t>
        <a:bodyPr/>
        <a:lstStyle/>
        <a:p>
          <a:endParaRPr lang="en-GB"/>
        </a:p>
      </dgm:t>
    </dgm:pt>
    <dgm:pt modelId="{84251DF7-A8B5-854D-8CA6-A631F64E2592}" type="pres">
      <dgm:prSet presAssocID="{5747806D-A8AA-9940-8188-CEFFF25A9228}" presName="linear" presStyleCnt="0">
        <dgm:presLayoutVars>
          <dgm:animLvl val="lvl"/>
          <dgm:resizeHandles val="exact"/>
        </dgm:presLayoutVars>
      </dgm:prSet>
      <dgm:spPr/>
    </dgm:pt>
    <dgm:pt modelId="{2D1E28ED-9F57-AE4A-A086-8852678ABA78}" type="pres">
      <dgm:prSet presAssocID="{7B941B76-B3AD-1F40-9843-D71B9AD7F6A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77CB700-4708-F642-8E99-4FBA5052F998}" type="presOf" srcId="{7B941B76-B3AD-1F40-9843-D71B9AD7F6A8}" destId="{2D1E28ED-9F57-AE4A-A086-8852678ABA78}" srcOrd="0" destOrd="0" presId="urn:microsoft.com/office/officeart/2005/8/layout/vList2"/>
    <dgm:cxn modelId="{07997241-1CE6-4043-B9EC-7370486F4FBE}" srcId="{5747806D-A8AA-9940-8188-CEFFF25A9228}" destId="{7B941B76-B3AD-1F40-9843-D71B9AD7F6A8}" srcOrd="0" destOrd="0" parTransId="{038CCA04-73F3-3542-B79E-91AB8F6E55ED}" sibTransId="{424E0819-A9F2-0548-B6A5-755989002132}"/>
    <dgm:cxn modelId="{CC2C6BCB-9FAE-8A47-85D4-C6E821F7301E}" type="presOf" srcId="{5747806D-A8AA-9940-8188-CEFFF25A9228}" destId="{84251DF7-A8B5-854D-8CA6-A631F64E2592}" srcOrd="0" destOrd="0" presId="urn:microsoft.com/office/officeart/2005/8/layout/vList2"/>
    <dgm:cxn modelId="{B8B2242F-B4DF-6D49-B958-AD34BF8BA7A2}" type="presParOf" srcId="{84251DF7-A8B5-854D-8CA6-A631F64E2592}" destId="{2D1E28ED-9F57-AE4A-A086-8852678ABA7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CAD80C-6772-4C30-9BE1-33A088C5737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C7256C8-172E-4E71-BFF5-A0926D38D71B}">
      <dgm:prSet/>
      <dgm:spPr/>
      <dgm:t>
        <a:bodyPr/>
        <a:lstStyle/>
        <a:p>
          <a:pPr>
            <a:defRPr cap="all"/>
          </a:pPr>
          <a:r>
            <a:rPr lang="en-US" b="1"/>
            <a:t>Problem Statement</a:t>
          </a:r>
          <a:endParaRPr lang="en-US"/>
        </a:p>
      </dgm:t>
    </dgm:pt>
    <dgm:pt modelId="{04780F27-5196-4408-B6E9-B812AB8AB439}" type="parTrans" cxnId="{67A89B9F-8328-4162-A09A-ED722773FDA0}">
      <dgm:prSet/>
      <dgm:spPr/>
      <dgm:t>
        <a:bodyPr/>
        <a:lstStyle/>
        <a:p>
          <a:endParaRPr lang="en-US"/>
        </a:p>
      </dgm:t>
    </dgm:pt>
    <dgm:pt modelId="{C41BA934-41EA-4C36-B955-597CFC1137B0}" type="sibTrans" cxnId="{67A89B9F-8328-4162-A09A-ED722773FDA0}">
      <dgm:prSet/>
      <dgm:spPr/>
      <dgm:t>
        <a:bodyPr/>
        <a:lstStyle/>
        <a:p>
          <a:endParaRPr lang="en-US"/>
        </a:p>
      </dgm:t>
    </dgm:pt>
    <dgm:pt modelId="{C66BDCB4-E9B4-4DD1-B283-E9B59C9269DD}">
      <dgm:prSet/>
      <dgm:spPr/>
      <dgm:t>
        <a:bodyPr/>
        <a:lstStyle/>
        <a:p>
          <a:pPr>
            <a:defRPr cap="all"/>
          </a:pPr>
          <a:r>
            <a:rPr lang="en-US" b="1"/>
            <a:t>Data Description</a:t>
          </a:r>
          <a:endParaRPr lang="en-US"/>
        </a:p>
      </dgm:t>
    </dgm:pt>
    <dgm:pt modelId="{1DE03559-E16B-4388-A424-9D2579F9359B}" type="parTrans" cxnId="{8E247B06-B04E-4219-B269-0BD28D0A59B7}">
      <dgm:prSet/>
      <dgm:spPr/>
      <dgm:t>
        <a:bodyPr/>
        <a:lstStyle/>
        <a:p>
          <a:endParaRPr lang="en-US"/>
        </a:p>
      </dgm:t>
    </dgm:pt>
    <dgm:pt modelId="{556B316E-3816-4100-92B1-42458C64EF26}" type="sibTrans" cxnId="{8E247B06-B04E-4219-B269-0BD28D0A59B7}">
      <dgm:prSet/>
      <dgm:spPr/>
      <dgm:t>
        <a:bodyPr/>
        <a:lstStyle/>
        <a:p>
          <a:endParaRPr lang="en-US"/>
        </a:p>
      </dgm:t>
    </dgm:pt>
    <dgm:pt modelId="{D503231E-B084-43B5-8F9C-00BFBF5E5C7C}">
      <dgm:prSet/>
      <dgm:spPr/>
      <dgm:t>
        <a:bodyPr/>
        <a:lstStyle/>
        <a:p>
          <a:pPr>
            <a:defRPr cap="all"/>
          </a:pPr>
          <a:r>
            <a:rPr lang="en-US" b="1"/>
            <a:t>Objective Key Metrics and Visualizations</a:t>
          </a:r>
          <a:endParaRPr lang="en-US"/>
        </a:p>
      </dgm:t>
    </dgm:pt>
    <dgm:pt modelId="{A92768D4-501C-4DCA-947B-4D523E066701}" type="parTrans" cxnId="{6C798785-D9B4-4B4F-BA43-A03FEB15274B}">
      <dgm:prSet/>
      <dgm:spPr/>
      <dgm:t>
        <a:bodyPr/>
        <a:lstStyle/>
        <a:p>
          <a:endParaRPr lang="en-US"/>
        </a:p>
      </dgm:t>
    </dgm:pt>
    <dgm:pt modelId="{89F9D948-FB1F-4255-9BE2-0EFA4DAAFE39}" type="sibTrans" cxnId="{6C798785-D9B4-4B4F-BA43-A03FEB15274B}">
      <dgm:prSet/>
      <dgm:spPr/>
      <dgm:t>
        <a:bodyPr/>
        <a:lstStyle/>
        <a:p>
          <a:endParaRPr lang="en-US"/>
        </a:p>
      </dgm:t>
    </dgm:pt>
    <dgm:pt modelId="{B40247CF-5812-4BD8-9A38-5D9AEFF29B42}">
      <dgm:prSet/>
      <dgm:spPr/>
      <dgm:t>
        <a:bodyPr/>
        <a:lstStyle/>
        <a:p>
          <a:pPr>
            <a:defRPr cap="all"/>
          </a:pPr>
          <a:r>
            <a:rPr lang="en-US" b="1"/>
            <a:t>Subjective Question for Insights</a:t>
          </a:r>
          <a:endParaRPr lang="en-US"/>
        </a:p>
      </dgm:t>
    </dgm:pt>
    <dgm:pt modelId="{C2F3C789-0F88-458C-8FDC-6763F6FCD67C}" type="parTrans" cxnId="{B242410C-4CB7-4B77-A3B7-825B6E85A8D7}">
      <dgm:prSet/>
      <dgm:spPr/>
      <dgm:t>
        <a:bodyPr/>
        <a:lstStyle/>
        <a:p>
          <a:endParaRPr lang="en-US"/>
        </a:p>
      </dgm:t>
    </dgm:pt>
    <dgm:pt modelId="{C58FF9A9-1C08-43B1-9EAD-27546E76AF05}" type="sibTrans" cxnId="{B242410C-4CB7-4B77-A3B7-825B6E85A8D7}">
      <dgm:prSet/>
      <dgm:spPr/>
      <dgm:t>
        <a:bodyPr/>
        <a:lstStyle/>
        <a:p>
          <a:endParaRPr lang="en-US"/>
        </a:p>
      </dgm:t>
    </dgm:pt>
    <dgm:pt modelId="{194CFCE6-03AA-4BE9-8689-D4A943337F00}" type="pres">
      <dgm:prSet presAssocID="{CBCAD80C-6772-4C30-9BE1-33A088C57377}" presName="root" presStyleCnt="0">
        <dgm:presLayoutVars>
          <dgm:dir/>
          <dgm:resizeHandles val="exact"/>
        </dgm:presLayoutVars>
      </dgm:prSet>
      <dgm:spPr/>
    </dgm:pt>
    <dgm:pt modelId="{60336CDD-0AB9-4958-A94F-CA710B0D795E}" type="pres">
      <dgm:prSet presAssocID="{BC7256C8-172E-4E71-BFF5-A0926D38D71B}" presName="compNode" presStyleCnt="0"/>
      <dgm:spPr/>
    </dgm:pt>
    <dgm:pt modelId="{3C73CF60-1F94-4DDF-8891-CCA5B5D265BD}" type="pres">
      <dgm:prSet presAssocID="{BC7256C8-172E-4E71-BFF5-A0926D38D71B}" presName="iconBgRect" presStyleLbl="bgShp" presStyleIdx="0" presStyleCnt="4"/>
      <dgm:spPr/>
    </dgm:pt>
    <dgm:pt modelId="{39016056-059C-41C4-8FB7-64AC127998F1}" type="pres">
      <dgm:prSet presAssocID="{BC7256C8-172E-4E71-BFF5-A0926D38D71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392948D-9C1A-4941-A6DC-0F49E331F35B}" type="pres">
      <dgm:prSet presAssocID="{BC7256C8-172E-4E71-BFF5-A0926D38D71B}" presName="spaceRect" presStyleCnt="0"/>
      <dgm:spPr/>
    </dgm:pt>
    <dgm:pt modelId="{E9463011-4853-456D-BDC5-232CE0388F7B}" type="pres">
      <dgm:prSet presAssocID="{BC7256C8-172E-4E71-BFF5-A0926D38D71B}" presName="textRect" presStyleLbl="revTx" presStyleIdx="0" presStyleCnt="4">
        <dgm:presLayoutVars>
          <dgm:chMax val="1"/>
          <dgm:chPref val="1"/>
        </dgm:presLayoutVars>
      </dgm:prSet>
      <dgm:spPr/>
    </dgm:pt>
    <dgm:pt modelId="{56F1AA5D-98D5-4F95-94BB-A1BC05232DC1}" type="pres">
      <dgm:prSet presAssocID="{C41BA934-41EA-4C36-B955-597CFC1137B0}" presName="sibTrans" presStyleCnt="0"/>
      <dgm:spPr/>
    </dgm:pt>
    <dgm:pt modelId="{BBD02DBA-CB52-4256-89EC-B5383CCA50BF}" type="pres">
      <dgm:prSet presAssocID="{C66BDCB4-E9B4-4DD1-B283-E9B59C9269DD}" presName="compNode" presStyleCnt="0"/>
      <dgm:spPr/>
    </dgm:pt>
    <dgm:pt modelId="{F9C0431B-277A-41E6-9504-EE806EB29AF1}" type="pres">
      <dgm:prSet presAssocID="{C66BDCB4-E9B4-4DD1-B283-E9B59C9269DD}" presName="iconBgRect" presStyleLbl="bgShp" presStyleIdx="1" presStyleCnt="4"/>
      <dgm:spPr/>
    </dgm:pt>
    <dgm:pt modelId="{7E0F100A-EC1F-4887-BD6E-E9CF83DCF458}" type="pres">
      <dgm:prSet presAssocID="{C66BDCB4-E9B4-4DD1-B283-E9B59C9269D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DFC6CEE-772E-4EE7-BAF5-7F66AC15E242}" type="pres">
      <dgm:prSet presAssocID="{C66BDCB4-E9B4-4DD1-B283-E9B59C9269DD}" presName="spaceRect" presStyleCnt="0"/>
      <dgm:spPr/>
    </dgm:pt>
    <dgm:pt modelId="{2FECA8B3-0AE2-49F7-84DF-8948F58C934D}" type="pres">
      <dgm:prSet presAssocID="{C66BDCB4-E9B4-4DD1-B283-E9B59C9269DD}" presName="textRect" presStyleLbl="revTx" presStyleIdx="1" presStyleCnt="4">
        <dgm:presLayoutVars>
          <dgm:chMax val="1"/>
          <dgm:chPref val="1"/>
        </dgm:presLayoutVars>
      </dgm:prSet>
      <dgm:spPr/>
    </dgm:pt>
    <dgm:pt modelId="{3302ADE8-50AB-45AD-8090-D5BE9F268284}" type="pres">
      <dgm:prSet presAssocID="{556B316E-3816-4100-92B1-42458C64EF26}" presName="sibTrans" presStyleCnt="0"/>
      <dgm:spPr/>
    </dgm:pt>
    <dgm:pt modelId="{F30BBA51-A4BC-47E6-85ED-612047FA303A}" type="pres">
      <dgm:prSet presAssocID="{D503231E-B084-43B5-8F9C-00BFBF5E5C7C}" presName="compNode" presStyleCnt="0"/>
      <dgm:spPr/>
    </dgm:pt>
    <dgm:pt modelId="{88D6771E-8A2E-4F4E-AC14-64E0A7E3E782}" type="pres">
      <dgm:prSet presAssocID="{D503231E-B084-43B5-8F9C-00BFBF5E5C7C}" presName="iconBgRect" presStyleLbl="bgShp" presStyleIdx="2" presStyleCnt="4"/>
      <dgm:spPr/>
    </dgm:pt>
    <dgm:pt modelId="{4DC1FBD0-40BF-44AB-87EF-DE5DEAD140DB}" type="pres">
      <dgm:prSet presAssocID="{D503231E-B084-43B5-8F9C-00BFBF5E5C7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2811FC8-07D2-4B79-B3EC-22DFAEAFE7A4}" type="pres">
      <dgm:prSet presAssocID="{D503231E-B084-43B5-8F9C-00BFBF5E5C7C}" presName="spaceRect" presStyleCnt="0"/>
      <dgm:spPr/>
    </dgm:pt>
    <dgm:pt modelId="{C66C7D7E-D01C-43EC-B05A-39573DA26117}" type="pres">
      <dgm:prSet presAssocID="{D503231E-B084-43B5-8F9C-00BFBF5E5C7C}" presName="textRect" presStyleLbl="revTx" presStyleIdx="2" presStyleCnt="4">
        <dgm:presLayoutVars>
          <dgm:chMax val="1"/>
          <dgm:chPref val="1"/>
        </dgm:presLayoutVars>
      </dgm:prSet>
      <dgm:spPr/>
    </dgm:pt>
    <dgm:pt modelId="{5308C634-BDF8-479B-A307-937F5C3E5021}" type="pres">
      <dgm:prSet presAssocID="{89F9D948-FB1F-4255-9BE2-0EFA4DAAFE39}" presName="sibTrans" presStyleCnt="0"/>
      <dgm:spPr/>
    </dgm:pt>
    <dgm:pt modelId="{5830DCDF-61EA-4C7B-93DC-CF940B97BD58}" type="pres">
      <dgm:prSet presAssocID="{B40247CF-5812-4BD8-9A38-5D9AEFF29B42}" presName="compNode" presStyleCnt="0"/>
      <dgm:spPr/>
    </dgm:pt>
    <dgm:pt modelId="{02A143F4-F491-42AD-8D48-587ABEF7E42B}" type="pres">
      <dgm:prSet presAssocID="{B40247CF-5812-4BD8-9A38-5D9AEFF29B42}" presName="iconBgRect" presStyleLbl="bgShp" presStyleIdx="3" presStyleCnt="4"/>
      <dgm:spPr/>
    </dgm:pt>
    <dgm:pt modelId="{B03331A6-5249-4887-B1C0-FD468C345991}" type="pres">
      <dgm:prSet presAssocID="{B40247CF-5812-4BD8-9A38-5D9AEFF29B4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2DB75409-627C-43BF-98BE-6C86BAAF6C16}" type="pres">
      <dgm:prSet presAssocID="{B40247CF-5812-4BD8-9A38-5D9AEFF29B42}" presName="spaceRect" presStyleCnt="0"/>
      <dgm:spPr/>
    </dgm:pt>
    <dgm:pt modelId="{B510169A-79F9-400B-99FB-68E8D161C52A}" type="pres">
      <dgm:prSet presAssocID="{B40247CF-5812-4BD8-9A38-5D9AEFF29B4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E247B06-B04E-4219-B269-0BD28D0A59B7}" srcId="{CBCAD80C-6772-4C30-9BE1-33A088C57377}" destId="{C66BDCB4-E9B4-4DD1-B283-E9B59C9269DD}" srcOrd="1" destOrd="0" parTransId="{1DE03559-E16B-4388-A424-9D2579F9359B}" sibTransId="{556B316E-3816-4100-92B1-42458C64EF26}"/>
    <dgm:cxn modelId="{B242410C-4CB7-4B77-A3B7-825B6E85A8D7}" srcId="{CBCAD80C-6772-4C30-9BE1-33A088C57377}" destId="{B40247CF-5812-4BD8-9A38-5D9AEFF29B42}" srcOrd="3" destOrd="0" parTransId="{C2F3C789-0F88-458C-8FDC-6763F6FCD67C}" sibTransId="{C58FF9A9-1C08-43B1-9EAD-27546E76AF05}"/>
    <dgm:cxn modelId="{7F7DDD1A-ED2D-4D4D-811E-7140E567093F}" type="presOf" srcId="{B40247CF-5812-4BD8-9A38-5D9AEFF29B42}" destId="{B510169A-79F9-400B-99FB-68E8D161C52A}" srcOrd="0" destOrd="0" presId="urn:microsoft.com/office/officeart/2018/5/layout/IconCircleLabelList"/>
    <dgm:cxn modelId="{8139B94F-BB45-4CA0-982E-378641B4E959}" type="presOf" srcId="{CBCAD80C-6772-4C30-9BE1-33A088C57377}" destId="{194CFCE6-03AA-4BE9-8689-D4A943337F00}" srcOrd="0" destOrd="0" presId="urn:microsoft.com/office/officeart/2018/5/layout/IconCircleLabelList"/>
    <dgm:cxn modelId="{B5CF1881-E43D-42D8-90E4-11FA1BFA287D}" type="presOf" srcId="{C66BDCB4-E9B4-4DD1-B283-E9B59C9269DD}" destId="{2FECA8B3-0AE2-49F7-84DF-8948F58C934D}" srcOrd="0" destOrd="0" presId="urn:microsoft.com/office/officeart/2018/5/layout/IconCircleLabelList"/>
    <dgm:cxn modelId="{6C798785-D9B4-4B4F-BA43-A03FEB15274B}" srcId="{CBCAD80C-6772-4C30-9BE1-33A088C57377}" destId="{D503231E-B084-43B5-8F9C-00BFBF5E5C7C}" srcOrd="2" destOrd="0" parTransId="{A92768D4-501C-4DCA-947B-4D523E066701}" sibTransId="{89F9D948-FB1F-4255-9BE2-0EFA4DAAFE39}"/>
    <dgm:cxn modelId="{67A89B9F-8328-4162-A09A-ED722773FDA0}" srcId="{CBCAD80C-6772-4C30-9BE1-33A088C57377}" destId="{BC7256C8-172E-4E71-BFF5-A0926D38D71B}" srcOrd="0" destOrd="0" parTransId="{04780F27-5196-4408-B6E9-B812AB8AB439}" sibTransId="{C41BA934-41EA-4C36-B955-597CFC1137B0}"/>
    <dgm:cxn modelId="{FDAAD5B6-7CB9-4CB0-B146-D7B3EF9BBAD6}" type="presOf" srcId="{D503231E-B084-43B5-8F9C-00BFBF5E5C7C}" destId="{C66C7D7E-D01C-43EC-B05A-39573DA26117}" srcOrd="0" destOrd="0" presId="urn:microsoft.com/office/officeart/2018/5/layout/IconCircleLabelList"/>
    <dgm:cxn modelId="{4D1F48D0-EDC8-4B2A-9AF7-06BA8E60E84C}" type="presOf" srcId="{BC7256C8-172E-4E71-BFF5-A0926D38D71B}" destId="{E9463011-4853-456D-BDC5-232CE0388F7B}" srcOrd="0" destOrd="0" presId="urn:microsoft.com/office/officeart/2018/5/layout/IconCircleLabelList"/>
    <dgm:cxn modelId="{3B3591BD-1901-482F-96F6-AC95E38476A6}" type="presParOf" srcId="{194CFCE6-03AA-4BE9-8689-D4A943337F00}" destId="{60336CDD-0AB9-4958-A94F-CA710B0D795E}" srcOrd="0" destOrd="0" presId="urn:microsoft.com/office/officeart/2018/5/layout/IconCircleLabelList"/>
    <dgm:cxn modelId="{AD07EF3E-FCEF-46F6-BF68-23BC6052C5E9}" type="presParOf" srcId="{60336CDD-0AB9-4958-A94F-CA710B0D795E}" destId="{3C73CF60-1F94-4DDF-8891-CCA5B5D265BD}" srcOrd="0" destOrd="0" presId="urn:microsoft.com/office/officeart/2018/5/layout/IconCircleLabelList"/>
    <dgm:cxn modelId="{575EA2A7-E1C2-4AF3-9BA0-8DFE50F845A8}" type="presParOf" srcId="{60336CDD-0AB9-4958-A94F-CA710B0D795E}" destId="{39016056-059C-41C4-8FB7-64AC127998F1}" srcOrd="1" destOrd="0" presId="urn:microsoft.com/office/officeart/2018/5/layout/IconCircleLabelList"/>
    <dgm:cxn modelId="{9388E148-8402-4A66-8543-44DABD414711}" type="presParOf" srcId="{60336CDD-0AB9-4958-A94F-CA710B0D795E}" destId="{B392948D-9C1A-4941-A6DC-0F49E331F35B}" srcOrd="2" destOrd="0" presId="urn:microsoft.com/office/officeart/2018/5/layout/IconCircleLabelList"/>
    <dgm:cxn modelId="{09830450-7C81-47C0-A36C-6842B54CCDF2}" type="presParOf" srcId="{60336CDD-0AB9-4958-A94F-CA710B0D795E}" destId="{E9463011-4853-456D-BDC5-232CE0388F7B}" srcOrd="3" destOrd="0" presId="urn:microsoft.com/office/officeart/2018/5/layout/IconCircleLabelList"/>
    <dgm:cxn modelId="{FBCA5AD0-4200-447B-A57B-2FE97096BEE7}" type="presParOf" srcId="{194CFCE6-03AA-4BE9-8689-D4A943337F00}" destId="{56F1AA5D-98D5-4F95-94BB-A1BC05232DC1}" srcOrd="1" destOrd="0" presId="urn:microsoft.com/office/officeart/2018/5/layout/IconCircleLabelList"/>
    <dgm:cxn modelId="{97FAC6D1-F8A1-41D5-B3ED-7CDC9C8C9F7D}" type="presParOf" srcId="{194CFCE6-03AA-4BE9-8689-D4A943337F00}" destId="{BBD02DBA-CB52-4256-89EC-B5383CCA50BF}" srcOrd="2" destOrd="0" presId="urn:microsoft.com/office/officeart/2018/5/layout/IconCircleLabelList"/>
    <dgm:cxn modelId="{99F98A69-4A4A-42F5-A9C1-63350017905B}" type="presParOf" srcId="{BBD02DBA-CB52-4256-89EC-B5383CCA50BF}" destId="{F9C0431B-277A-41E6-9504-EE806EB29AF1}" srcOrd="0" destOrd="0" presId="urn:microsoft.com/office/officeart/2018/5/layout/IconCircleLabelList"/>
    <dgm:cxn modelId="{1B46E01C-6ABC-4CFB-8E08-B4C36E9A39C9}" type="presParOf" srcId="{BBD02DBA-CB52-4256-89EC-B5383CCA50BF}" destId="{7E0F100A-EC1F-4887-BD6E-E9CF83DCF458}" srcOrd="1" destOrd="0" presId="urn:microsoft.com/office/officeart/2018/5/layout/IconCircleLabelList"/>
    <dgm:cxn modelId="{3B953772-EB7F-4782-BDF7-231D9E3760BE}" type="presParOf" srcId="{BBD02DBA-CB52-4256-89EC-B5383CCA50BF}" destId="{FDFC6CEE-772E-4EE7-BAF5-7F66AC15E242}" srcOrd="2" destOrd="0" presId="urn:microsoft.com/office/officeart/2018/5/layout/IconCircleLabelList"/>
    <dgm:cxn modelId="{EB70A9A9-BE9C-4CA1-9F1C-7B928AF3DB4E}" type="presParOf" srcId="{BBD02DBA-CB52-4256-89EC-B5383CCA50BF}" destId="{2FECA8B3-0AE2-49F7-84DF-8948F58C934D}" srcOrd="3" destOrd="0" presId="urn:microsoft.com/office/officeart/2018/5/layout/IconCircleLabelList"/>
    <dgm:cxn modelId="{5C4FFB2D-0C4E-40DE-BBFE-FD6A28676AF4}" type="presParOf" srcId="{194CFCE6-03AA-4BE9-8689-D4A943337F00}" destId="{3302ADE8-50AB-45AD-8090-D5BE9F268284}" srcOrd="3" destOrd="0" presId="urn:microsoft.com/office/officeart/2018/5/layout/IconCircleLabelList"/>
    <dgm:cxn modelId="{42F339BD-3D23-4E81-9FE4-4E93EEC752D5}" type="presParOf" srcId="{194CFCE6-03AA-4BE9-8689-D4A943337F00}" destId="{F30BBA51-A4BC-47E6-85ED-612047FA303A}" srcOrd="4" destOrd="0" presId="urn:microsoft.com/office/officeart/2018/5/layout/IconCircleLabelList"/>
    <dgm:cxn modelId="{890A7DF2-E3EE-43E2-B1F2-B2B71765FCD5}" type="presParOf" srcId="{F30BBA51-A4BC-47E6-85ED-612047FA303A}" destId="{88D6771E-8A2E-4F4E-AC14-64E0A7E3E782}" srcOrd="0" destOrd="0" presId="urn:microsoft.com/office/officeart/2018/5/layout/IconCircleLabelList"/>
    <dgm:cxn modelId="{4E072867-EBB7-4D92-9697-F054FFE6D7FD}" type="presParOf" srcId="{F30BBA51-A4BC-47E6-85ED-612047FA303A}" destId="{4DC1FBD0-40BF-44AB-87EF-DE5DEAD140DB}" srcOrd="1" destOrd="0" presId="urn:microsoft.com/office/officeart/2018/5/layout/IconCircleLabelList"/>
    <dgm:cxn modelId="{0E4A1FF0-7448-4DD0-93B7-D0CEF9872D27}" type="presParOf" srcId="{F30BBA51-A4BC-47E6-85ED-612047FA303A}" destId="{82811FC8-07D2-4B79-B3EC-22DFAEAFE7A4}" srcOrd="2" destOrd="0" presId="urn:microsoft.com/office/officeart/2018/5/layout/IconCircleLabelList"/>
    <dgm:cxn modelId="{FAD9E22E-4F67-435D-807E-15C74B06B3FC}" type="presParOf" srcId="{F30BBA51-A4BC-47E6-85ED-612047FA303A}" destId="{C66C7D7E-D01C-43EC-B05A-39573DA26117}" srcOrd="3" destOrd="0" presId="urn:microsoft.com/office/officeart/2018/5/layout/IconCircleLabelList"/>
    <dgm:cxn modelId="{B1D34A0C-91D7-4C24-A100-BC3C478631C5}" type="presParOf" srcId="{194CFCE6-03AA-4BE9-8689-D4A943337F00}" destId="{5308C634-BDF8-479B-A307-937F5C3E5021}" srcOrd="5" destOrd="0" presId="urn:microsoft.com/office/officeart/2018/5/layout/IconCircleLabelList"/>
    <dgm:cxn modelId="{EE0FED87-A97F-4E8C-BA5E-0EFEC922F8BD}" type="presParOf" srcId="{194CFCE6-03AA-4BE9-8689-D4A943337F00}" destId="{5830DCDF-61EA-4C7B-93DC-CF940B97BD58}" srcOrd="6" destOrd="0" presId="urn:microsoft.com/office/officeart/2018/5/layout/IconCircleLabelList"/>
    <dgm:cxn modelId="{39618BBC-0353-42E5-B3A2-592CF473A62A}" type="presParOf" srcId="{5830DCDF-61EA-4C7B-93DC-CF940B97BD58}" destId="{02A143F4-F491-42AD-8D48-587ABEF7E42B}" srcOrd="0" destOrd="0" presId="urn:microsoft.com/office/officeart/2018/5/layout/IconCircleLabelList"/>
    <dgm:cxn modelId="{DB7FF38A-8BEF-493B-A395-0611D90BF019}" type="presParOf" srcId="{5830DCDF-61EA-4C7B-93DC-CF940B97BD58}" destId="{B03331A6-5249-4887-B1C0-FD468C345991}" srcOrd="1" destOrd="0" presId="urn:microsoft.com/office/officeart/2018/5/layout/IconCircleLabelList"/>
    <dgm:cxn modelId="{76E4A35B-5509-4902-B6B1-EBC2AC18EF98}" type="presParOf" srcId="{5830DCDF-61EA-4C7B-93DC-CF940B97BD58}" destId="{2DB75409-627C-43BF-98BE-6C86BAAF6C16}" srcOrd="2" destOrd="0" presId="urn:microsoft.com/office/officeart/2018/5/layout/IconCircleLabelList"/>
    <dgm:cxn modelId="{4FCED379-BBF2-4848-895F-8D18163476E3}" type="presParOf" srcId="{5830DCDF-61EA-4C7B-93DC-CF940B97BD58}" destId="{B510169A-79F9-400B-99FB-68E8D161C52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1E28ED-9F57-AE4A-A086-8852678ABA78}">
      <dsp:nvSpPr>
        <dsp:cNvPr id="0" name=""/>
        <dsp:cNvSpPr/>
      </dsp:nvSpPr>
      <dsp:spPr>
        <a:xfrm>
          <a:off x="0" y="10724"/>
          <a:ext cx="10592174" cy="4668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Presented by:  Amar</a:t>
          </a:r>
          <a:endParaRPr lang="en-IN" sz="1900" kern="1200"/>
        </a:p>
      </dsp:txBody>
      <dsp:txXfrm>
        <a:off x="22789" y="33513"/>
        <a:ext cx="10546596" cy="4212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73CF60-1F94-4DDF-8891-CCA5B5D265BD}">
      <dsp:nvSpPr>
        <dsp:cNvPr id="0" name=""/>
        <dsp:cNvSpPr/>
      </dsp:nvSpPr>
      <dsp:spPr>
        <a:xfrm>
          <a:off x="973190" y="986724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016056-059C-41C4-8FB7-64AC127998F1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463011-4853-456D-BDC5-232CE0388F7B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Problem Statement</a:t>
          </a:r>
          <a:endParaRPr lang="en-US" sz="1700" kern="1200"/>
        </a:p>
      </dsp:txBody>
      <dsp:txXfrm>
        <a:off x="569079" y="2644614"/>
        <a:ext cx="2072362" cy="720000"/>
      </dsp:txXfrm>
    </dsp:sp>
    <dsp:sp modelId="{F9C0431B-277A-41E6-9504-EE806EB29AF1}">
      <dsp:nvSpPr>
        <dsp:cNvPr id="0" name=""/>
        <dsp:cNvSpPr/>
      </dsp:nvSpPr>
      <dsp:spPr>
        <a:xfrm>
          <a:off x="3408216" y="986724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0F100A-EC1F-4887-BD6E-E9CF83DCF458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CA8B3-0AE2-49F7-84DF-8948F58C934D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Data Description</a:t>
          </a:r>
          <a:endParaRPr lang="en-US" sz="1700" kern="1200"/>
        </a:p>
      </dsp:txBody>
      <dsp:txXfrm>
        <a:off x="3004105" y="2644614"/>
        <a:ext cx="2072362" cy="720000"/>
      </dsp:txXfrm>
    </dsp:sp>
    <dsp:sp modelId="{88D6771E-8A2E-4F4E-AC14-64E0A7E3E782}">
      <dsp:nvSpPr>
        <dsp:cNvPr id="0" name=""/>
        <dsp:cNvSpPr/>
      </dsp:nvSpPr>
      <dsp:spPr>
        <a:xfrm>
          <a:off x="5843242" y="98672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C1FBD0-40BF-44AB-87EF-DE5DEAD140DB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C7D7E-D01C-43EC-B05A-39573DA26117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Objective Key Metrics and Visualizations</a:t>
          </a:r>
          <a:endParaRPr lang="en-US" sz="1700" kern="1200"/>
        </a:p>
      </dsp:txBody>
      <dsp:txXfrm>
        <a:off x="5439131" y="2644614"/>
        <a:ext cx="2072362" cy="720000"/>
      </dsp:txXfrm>
    </dsp:sp>
    <dsp:sp modelId="{02A143F4-F491-42AD-8D48-587ABEF7E42B}">
      <dsp:nvSpPr>
        <dsp:cNvPr id="0" name=""/>
        <dsp:cNvSpPr/>
      </dsp:nvSpPr>
      <dsp:spPr>
        <a:xfrm>
          <a:off x="8278268" y="986724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3331A6-5249-4887-B1C0-FD468C345991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10169A-79F9-400B-99FB-68E8D161C52A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Subjective Question for Insights</a:t>
          </a:r>
          <a:endParaRPr lang="en-US" sz="1700" kern="1200"/>
        </a:p>
      </dsp:txBody>
      <dsp:txXfrm>
        <a:off x="7874157" y="2644614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AF15F-3F50-3CFE-C3B0-5617CD478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CE762-7BA7-06CB-83C4-B58B8D83D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6AFEF-3F7C-D7DA-CA93-9FAD5CE0A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F36E-CB07-0D41-92B7-3A0D6B5E400B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5CA7E-EE96-288F-EFB2-91DA3355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1F418-86FA-B09A-1ECF-207083B2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60A9-8E6A-2A4A-B229-12D665DD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72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95700-6C75-AEBD-6617-BFFE1E9ED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E2F05-27E9-EA20-8958-5C60F31B8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A5365-3471-D9FA-130D-D2F7BD845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F36E-CB07-0D41-92B7-3A0D6B5E400B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FF665-A759-6197-9CFE-A7BB04E29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E57E0-4EE3-F949-6641-5BF614F1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60A9-8E6A-2A4A-B229-12D665DD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4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ABA1-6B67-61F8-6FA4-48C21558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6711C-C47F-A3FA-B5C4-1CE074342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77508-318D-2B01-F6A6-505CF1020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F36E-CB07-0D41-92B7-3A0D6B5E400B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86C19-4DCD-12C0-11B3-38B490D72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A4CA2-E719-BA0A-3D78-2A60B980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60A9-8E6A-2A4A-B229-12D665DD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4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281E3-4F66-DF4E-A6EE-9F974862B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FEAF4-74B0-A419-B2D5-607949268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9ADCC-8AEB-34B3-0E94-BAD53E9F4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9CA2F-BF16-F68D-01B9-360C9FC5D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F36E-CB07-0D41-92B7-3A0D6B5E400B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217B6-5C55-ED20-E259-D082FF553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CDBE6-D83F-1F9A-9402-795452B51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60A9-8E6A-2A4A-B229-12D665DD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05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F7AF0-ABFB-ACC0-2143-2499CD974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4CF25-EA60-795E-79CA-1E13195AF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034C1-60DF-28B1-6F6B-6A69F9929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334676-55B9-95F4-3583-D62780A4D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0BF002-3713-9372-80AA-6785FA4B0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28F54F-DC68-2084-C447-18DE9CEC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F36E-CB07-0D41-92B7-3A0D6B5E400B}" type="datetimeFigureOut">
              <a:rPr lang="en-US" smtClean="0"/>
              <a:t>2/28/26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B506B-3EA4-41DB-C8E7-AB35E6C57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DFA6F-74DB-489A-919C-2B453003D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60A9-8E6A-2A4A-B229-12D665DD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69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E9D26-8A84-BD88-0D09-B7D34C72C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F9EA25-27E1-B6EE-1671-8B73B890C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F36E-CB07-0D41-92B7-3A0D6B5E400B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25D7DE-C151-A01B-3B81-41134293C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44850-E3B4-7070-31E5-BA680713E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60A9-8E6A-2A4A-B229-12D665DD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24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B10FD-0051-8481-BF59-8F711C395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F36E-CB07-0D41-92B7-3A0D6B5E400B}" type="datetimeFigureOut">
              <a:rPr lang="en-US" smtClean="0"/>
              <a:t>2/28/26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391C72-452A-1A43-5B4A-B228B16E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73713-3424-51ED-539F-9475921B0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60A9-8E6A-2A4A-B229-12D665DD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54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1F8DE-C358-43DA-F976-056FACC85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58C7D-799C-D76D-20BE-7EF029163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CBCC1-C13A-C643-3F94-970AD1445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EC70F-77A8-B247-3C57-83CD7AF91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F36E-CB07-0D41-92B7-3A0D6B5E400B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E476C-E924-7916-2BDE-EAB79142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0C636-B949-C90D-DCC5-C6358915C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60A9-8E6A-2A4A-B229-12D665DD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71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872F-9A43-7689-C44F-47148AF73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8048F-B3B8-ADC0-7BDF-9E79165410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750A1F-E848-C899-9826-3B7C51C25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79BF9-2393-8571-1363-2F7C0F8BB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F36E-CB07-0D41-92B7-3A0D6B5E400B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C4234-D24D-F0B2-00CD-CBB45421B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52441-EC10-10A3-4CD4-1D20E8F2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60A9-8E6A-2A4A-B229-12D665DD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32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B1D1-2F1E-A0F2-7751-86A69693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47B51-9EAD-2811-0463-120292140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7A23C-C5F2-1EB9-97B4-AE777D00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F36E-CB07-0D41-92B7-3A0D6B5E400B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C0F76-37AB-8337-5627-887D9317B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E6F1D-A59C-28C6-C237-939AC611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60A9-8E6A-2A4A-B229-12D665DD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8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07461A-2405-7FA0-8C77-3550C4CA07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F236E-1F33-59DB-6DF8-30A2C2E7C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2EAE7-570D-6C8E-6050-07B643377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F36E-CB07-0D41-92B7-3A0D6B5E400B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D322A-6D84-0F20-7D1F-7E9CD5D9E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6B9E6-EFA9-A97A-F862-5EF3377C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60A9-8E6A-2A4A-B229-12D665DD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8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BDB734-70C0-B820-DA37-9FCE742A4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64288-90F2-9781-CC3A-7D531C607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135C3-7FE2-1077-E661-FF51CEA3A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DF36E-CB07-0D41-92B7-3A0D6B5E400B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C91DD-C549-A964-8FED-A2D2FA750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3439C-0F93-A23F-2DBC-D85C7FC48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7060A9-8E6A-2A4A-B229-12D665DD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7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3FA9843-45C5-F476-7775-3CFC4CFE75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6227812"/>
              </p:ext>
            </p:extLst>
          </p:nvPr>
        </p:nvGraphicFramePr>
        <p:xfrm>
          <a:off x="804672" y="5628904"/>
          <a:ext cx="10592174" cy="488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1542D1E5-8362-3FA2-05B3-06D6E525B92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8213" b="20523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84A519B-A69F-B181-7898-E44D88DE9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026" y="4253428"/>
            <a:ext cx="9416898" cy="1201528"/>
          </a:xfrm>
        </p:spPr>
        <p:txBody>
          <a:bodyPr anchor="b">
            <a:normAutofit fontScale="70000" lnSpcReduction="20000"/>
          </a:bodyPr>
          <a:lstStyle/>
          <a:p>
            <a:r>
              <a:rPr lang="en-GB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</a:p>
          <a:p>
            <a:r>
              <a:rPr lang="en-GB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E-COMMERCE ANALYSIS</a:t>
            </a:r>
          </a:p>
          <a:p>
            <a:r>
              <a:rPr lang="en-GB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Optimising e-Commerce Performance through Data-Driven Insights</a:t>
            </a:r>
            <a:endParaRPr lang="en-US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65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406DC-14E6-69C6-EC6D-554CC63C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100" dirty="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8DF1BD-A613-6F0E-038A-6798870B12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8689569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507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4F7F9E-9CE3-D356-9504-3910C1A90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</a:t>
            </a:r>
            <a:br>
              <a:rPr lang="en-US" sz="4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100" dirty="0">
              <a:solidFill>
                <a:srgbClr val="FFFFFF"/>
              </a:solidFill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B1D57-6981-7E87-72E3-6D6C25CA9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Amazon is a global leader in e-commerce, offering a vast range of products and services, including retail, cloud computing, and entertainment. Renowned for its customer-centric approach, innovative technologies, and efficient delivery systems, Amazon has revolutionized online shopping, making it convenient, reliable, and accessible worldwide.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694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AC993F-FD99-4F66-26AA-53DFA8FA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F79FD-552C-1A69-B8CD-1215CBD49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buNone/>
            </a:pPr>
            <a:endParaRPr lang="en-US" sz="2000" b="1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>
              <a:buClr>
                <a:schemeClr val="dk1"/>
              </a:buClr>
              <a:buSzPts val="2000"/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Amazon, an E-commerce company currently performing well. The stakeholders wish to maintain this level of performance and seek an improvement with new strategies.</a:t>
            </a:r>
          </a:p>
          <a:p>
            <a:pPr marL="285750" lvl="0" indent="-285750">
              <a:buClr>
                <a:schemeClr val="dk1"/>
              </a:buClr>
              <a:buSzPts val="2000"/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Other than discounts and Prime membership perks, the company wants additional methods to identify and reward customers and enhance their shopping experience.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918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83676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FD7233-B3C1-7BB0-72AE-3CABDB1D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Approach</a:t>
            </a:r>
            <a:b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473BE-A381-EB5F-E9CE-0FC4E777D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Revenue Distribution Analysis</a:t>
            </a:r>
          </a:p>
          <a:p>
            <a:pPr marL="342900" lvl="0" indent="-342900"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Periodic And Geographical Analysis</a:t>
            </a:r>
          </a:p>
          <a:p>
            <a:pPr marL="342900" lvl="0" indent="-342900"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 Analysis</a:t>
            </a:r>
          </a:p>
          <a:p>
            <a:pPr marL="342900" lvl="0" indent="-342900"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Satisfaction Analysis</a:t>
            </a:r>
          </a:p>
          <a:p>
            <a:pPr marL="342900" lvl="0" indent="-342900"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Service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42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3F8CE-4040-6A94-ED83-DAF3E0D6A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u="sng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Performance Indicators</a:t>
            </a:r>
            <a:br>
              <a:rPr lang="en-US" dirty="0">
                <a:solidFill>
                  <a:srgbClr val="006666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EBE87-90C8-1F8A-96A1-80AE06E92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2470" cy="85579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8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total Revenue generated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0C4056-D6E6-4847-2FC6-790D622B2305}"/>
              </a:ext>
            </a:extLst>
          </p:cNvPr>
          <p:cNvSpPr txBox="1"/>
          <p:nvPr/>
        </p:nvSpPr>
        <p:spPr>
          <a:xfrm>
            <a:off x="6586151" y="1824255"/>
            <a:ext cx="463378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total number of Unique Customers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0135D-BCCE-D193-17DC-EA9078E52241}"/>
              </a:ext>
            </a:extLst>
          </p:cNvPr>
          <p:cNvSpPr txBox="1"/>
          <p:nvPr/>
        </p:nvSpPr>
        <p:spPr>
          <a:xfrm>
            <a:off x="4053015" y="3731741"/>
            <a:ext cx="399123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Unique Products that are sold </a:t>
            </a:r>
          </a:p>
        </p:txBody>
      </p:sp>
      <p:pic>
        <p:nvPicPr>
          <p:cNvPr id="7" name="Picture 6" descr="A close up of a sign&#10;&#10;AI-generated content may be incorrect.">
            <a:extLst>
              <a:ext uri="{FF2B5EF4-FFF2-40B4-BE49-F238E27FC236}">
                <a16:creationId xmlns:a16="http://schemas.microsoft.com/office/drawing/2014/main" id="{694CFB06-3144-72DE-9C0A-1A49FBEF9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47814"/>
            <a:ext cx="3773788" cy="1181186"/>
          </a:xfrm>
          <a:prstGeom prst="rect">
            <a:avLst/>
          </a:prstGeom>
        </p:spPr>
      </p:pic>
      <p:pic>
        <p:nvPicPr>
          <p:cNvPr id="9" name="Picture 8" descr="A close-up of a sign&#10;&#10;AI-generated content may be incorrect.">
            <a:extLst>
              <a:ext uri="{FF2B5EF4-FFF2-40B4-BE49-F238E27FC236}">
                <a16:creationId xmlns:a16="http://schemas.microsoft.com/office/drawing/2014/main" id="{AFA9335D-604B-D54D-0BFA-1CB853BB0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428" y="2247814"/>
            <a:ext cx="3773788" cy="1181186"/>
          </a:xfrm>
          <a:prstGeom prst="rect">
            <a:avLst/>
          </a:prstGeom>
        </p:spPr>
      </p:pic>
      <p:pic>
        <p:nvPicPr>
          <p:cNvPr id="11" name="Picture 10" descr="A close-up of a sign&#10;&#10;AI-generated content may be incorrect.">
            <a:extLst>
              <a:ext uri="{FF2B5EF4-FFF2-40B4-BE49-F238E27FC236}">
                <a16:creationId xmlns:a16="http://schemas.microsoft.com/office/drawing/2014/main" id="{CA26631D-1729-277B-AE1F-487F83A2D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086" y="4247270"/>
            <a:ext cx="4519828" cy="133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73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32E43-443B-C7E8-7D9B-C6E1C3440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u="sng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Performance Indicators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E45F0-7DC9-03F4-007B-39441EB08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8594" y="4185506"/>
            <a:ext cx="6054811" cy="647358"/>
          </a:xfrm>
        </p:spPr>
        <p:txBody>
          <a:bodyPr>
            <a:normAutofit/>
          </a:bodyPr>
          <a:lstStyle/>
          <a:p>
            <a:pPr marL="285750" lvl="0" indent="-285750">
              <a:spcBef>
                <a:spcPts val="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Average Delivery Time taken to deliver the products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95571-F0E6-4F05-B88F-4565DB5DBADB}"/>
              </a:ext>
            </a:extLst>
          </p:cNvPr>
          <p:cNvSpPr txBox="1"/>
          <p:nvPr/>
        </p:nvSpPr>
        <p:spPr>
          <a:xfrm>
            <a:off x="725959" y="1910285"/>
            <a:ext cx="4204387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Number of Order Quantity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8DDF1C-3CA2-E78E-0F7D-005AF7253A66}"/>
              </a:ext>
            </a:extLst>
          </p:cNvPr>
          <p:cNvSpPr txBox="1"/>
          <p:nvPr/>
        </p:nvSpPr>
        <p:spPr>
          <a:xfrm>
            <a:off x="7870225" y="1912791"/>
            <a:ext cx="3483575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Overall Average Rating </a:t>
            </a:r>
          </a:p>
        </p:txBody>
      </p:sp>
      <p:pic>
        <p:nvPicPr>
          <p:cNvPr id="9" name="Picture 8" descr="A close up of a number&#10;&#10;AI-generated content may be incorrect.">
            <a:extLst>
              <a:ext uri="{FF2B5EF4-FFF2-40B4-BE49-F238E27FC236}">
                <a16:creationId xmlns:a16="http://schemas.microsoft.com/office/drawing/2014/main" id="{CDFF1715-891D-F190-AF4B-FBB62BED1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284580"/>
            <a:ext cx="3463047" cy="1375196"/>
          </a:xfrm>
          <a:prstGeom prst="rect">
            <a:avLst/>
          </a:prstGeom>
        </p:spPr>
      </p:pic>
      <p:pic>
        <p:nvPicPr>
          <p:cNvPr id="11" name="Picture 10" descr="A close-up of a box&#10;&#10;AI-generated content may be incorrect.">
            <a:extLst>
              <a:ext uri="{FF2B5EF4-FFF2-40B4-BE49-F238E27FC236}">
                <a16:creationId xmlns:a16="http://schemas.microsoft.com/office/drawing/2014/main" id="{91F682BE-1104-CE36-AE1A-A4FF6AE76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896" y="4777637"/>
            <a:ext cx="3332206" cy="1375196"/>
          </a:xfrm>
          <a:prstGeom prst="rect">
            <a:avLst/>
          </a:prstGeom>
        </p:spPr>
      </p:pic>
      <p:pic>
        <p:nvPicPr>
          <p:cNvPr id="13" name="Picture 12" descr="A blue and white circle with black text&#10;&#10;AI-generated content may be incorrect.">
            <a:extLst>
              <a:ext uri="{FF2B5EF4-FFF2-40B4-BE49-F238E27FC236}">
                <a16:creationId xmlns:a16="http://schemas.microsoft.com/office/drawing/2014/main" id="{1F5EFFF4-22F0-2189-0FB3-38B1BEEF5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156" y="2282819"/>
            <a:ext cx="3700850" cy="137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59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B7552B-ED17-A807-343F-68040E5D8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US" sz="3000" b="1" u="sng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Distribution Analysis </a:t>
            </a:r>
            <a:br>
              <a:rPr lang="en-US" sz="3000" dirty="0"/>
            </a:br>
            <a:endParaRPr lang="en-US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9CC64-F46C-413C-3FC2-5CA25138B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 fontScale="92500"/>
          </a:bodyPr>
          <a:lstStyle/>
          <a:p>
            <a:pPr marL="0" lvl="0" indent="0">
              <a:spcBef>
                <a:spcPts val="0"/>
              </a:spcBef>
              <a:buClr>
                <a:schemeClr val="dk1"/>
              </a:buClr>
              <a:buSzPts val="2000"/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Key takeaways:</a:t>
            </a: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US" sz="1400" b="1" dirty="0">
              <a:solidFill>
                <a:schemeClr val="accent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  <a:p>
            <a:pPr lvl="0">
              <a:spcBef>
                <a:spcPts val="0"/>
              </a:spcBef>
              <a:buClr>
                <a:schemeClr val="dk1"/>
              </a:buClr>
              <a:buSzPts val="2000"/>
              <a:buFont typeface="Wingdings" pitchFamily="2" charset="2"/>
              <a:buChar char="v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 With revenue distribution, we can understand which product contributing more to the revenue and also in which year revenue generated more.</a:t>
            </a:r>
          </a:p>
          <a:p>
            <a:pPr lvl="0">
              <a:buClr>
                <a:schemeClr val="dk1"/>
              </a:buClr>
              <a:buSzPts val="2000"/>
              <a:buFont typeface="Wingdings" pitchFamily="2" charset="2"/>
              <a:buChar char="v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 Revenue generated in the year 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2020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 is more compared to previous years.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0">
              <a:buClr>
                <a:schemeClr val="dk1"/>
              </a:buClr>
              <a:buSzPts val="2000"/>
              <a:buFont typeface="Wingdings" pitchFamily="2" charset="2"/>
              <a:buChar char="v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 Top revenue generated product is 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Canon EOS 600D 18MP DSLR Camera- Black with 14M sales.</a:t>
            </a:r>
            <a:endParaRPr lang="en-US" sz="1400" b="1" dirty="0">
              <a:solidFill>
                <a:schemeClr val="accent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sz="1300" dirty="0"/>
          </a:p>
        </p:txBody>
      </p:sp>
      <p:pic>
        <p:nvPicPr>
          <p:cNvPr id="5" name="Picture 4" descr="A graph with purple bars&#10;&#10;AI-generated content may be incorrect.">
            <a:extLst>
              <a:ext uri="{FF2B5EF4-FFF2-40B4-BE49-F238E27FC236}">
                <a16:creationId xmlns:a16="http://schemas.microsoft.com/office/drawing/2014/main" id="{465806B9-2EF6-0C06-5671-F3992478C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01" y="2729397"/>
            <a:ext cx="5219272" cy="3483864"/>
          </a:xfrm>
          <a:prstGeom prst="rect">
            <a:avLst/>
          </a:prstGeom>
        </p:spPr>
      </p:pic>
      <p:pic>
        <p:nvPicPr>
          <p:cNvPr id="7" name="Picture 6" descr="A graph of sales in different colors&#10;&#10;AI-generated content may be incorrect.">
            <a:extLst>
              <a:ext uri="{FF2B5EF4-FFF2-40B4-BE49-F238E27FC236}">
                <a16:creationId xmlns:a16="http://schemas.microsoft.com/office/drawing/2014/main" id="{7F3100AF-C62A-F5A1-54F8-5FC354EE0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3159597"/>
            <a:ext cx="5523082" cy="262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981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16DE10-803F-AF6A-0446-253ACE149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US" sz="2700" b="1" u="sng" dirty="0">
                <a:solidFill>
                  <a:schemeClr val="accent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Periodic And Geographical Analysis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0D9A-8C74-6B9C-4A65-1F9CB548F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lvl="0" indent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00"/>
              <a:buNone/>
            </a:pPr>
            <a:r>
              <a:rPr lang="en-US" sz="13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Key takeaways: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Periodic and geographic analysis supports targeted marketing and optimized distribution strategies.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altLang="en-US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Average sales declined in </a:t>
            </a:r>
            <a:r>
              <a:rPr lang="en-US" altLang="en-US" sz="13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February, June, and September</a:t>
            </a:r>
            <a:r>
              <a:rPr lang="en-US" altLang="en-US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altLang="en-US" sz="13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North America and Africa</a:t>
            </a:r>
            <a:r>
              <a:rPr lang="en-US" altLang="en-US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are the leading contributors to revenue.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altLang="en-US" sz="13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South America</a:t>
            </a:r>
            <a:r>
              <a:rPr lang="en-US" altLang="en-US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contributes the least to overall revenue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" name="Picture 6" descr="A map of the world with different colored circles&#10;&#10;AI-generated content may be incorrect.">
            <a:extLst>
              <a:ext uri="{FF2B5EF4-FFF2-40B4-BE49-F238E27FC236}">
                <a16:creationId xmlns:a16="http://schemas.microsoft.com/office/drawing/2014/main" id="{99CBAC0B-4841-213F-782D-AEE12693C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12" y="2729397"/>
            <a:ext cx="5030851" cy="3483864"/>
          </a:xfrm>
          <a:prstGeom prst="rect">
            <a:avLst/>
          </a:prstGeom>
        </p:spPr>
      </p:pic>
      <p:pic>
        <p:nvPicPr>
          <p:cNvPr id="9" name="Picture 8" descr="A graph of sales&#10;&#10;AI-generated content may be incorrect.">
            <a:extLst>
              <a:ext uri="{FF2B5EF4-FFF2-40B4-BE49-F238E27FC236}">
                <a16:creationId xmlns:a16="http://schemas.microsoft.com/office/drawing/2014/main" id="{82F8A9A4-FABE-403F-717E-214D4657E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2959386"/>
            <a:ext cx="5523082" cy="302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021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1EFC6D-3671-F3D0-C38C-30F8FC28A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Analysis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5386E-47F6-68C5-645C-F37FFF66A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3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Takeaways</a:t>
            </a:r>
            <a:endParaRPr lang="en-IN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IN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 analysis highlights both top-performing and underperforming products.</a:t>
            </a:r>
          </a:p>
          <a:p>
            <a:pPr>
              <a:buFont typeface="Wingdings" pitchFamily="2" charset="2"/>
              <a:buChar char="v"/>
            </a:pPr>
            <a:r>
              <a:rPr lang="en-IN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clear gap exists between high-demand products and low-performing ones.</a:t>
            </a:r>
          </a:p>
          <a:p>
            <a:pPr>
              <a:buFont typeface="Wingdings" pitchFamily="2" charset="2"/>
              <a:buChar char="v"/>
            </a:pPr>
            <a:r>
              <a:rPr lang="en-IN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Underperforming products may require targeted marketing to improve sales performance.</a:t>
            </a:r>
          </a:p>
          <a:p>
            <a:endParaRPr lang="en-US" sz="1300" dirty="0"/>
          </a:p>
        </p:txBody>
      </p:sp>
      <p:pic>
        <p:nvPicPr>
          <p:cNvPr id="5" name="Picture 4" descr="A graph of sales&#10;&#10;AI-generated content may be incorrect.">
            <a:extLst>
              <a:ext uri="{FF2B5EF4-FFF2-40B4-BE49-F238E27FC236}">
                <a16:creationId xmlns:a16="http://schemas.microsoft.com/office/drawing/2014/main" id="{9CC3595A-859D-F9F0-E02D-6193FD1F1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2744654"/>
            <a:ext cx="5481509" cy="3453350"/>
          </a:xfrm>
          <a:prstGeom prst="rect">
            <a:avLst/>
          </a:prstGeom>
        </p:spPr>
      </p:pic>
      <p:pic>
        <p:nvPicPr>
          <p:cNvPr id="7" name="Picture 6" descr="A screenshot of a product list&#10;&#10;AI-generated content may be incorrect.">
            <a:extLst>
              <a:ext uri="{FF2B5EF4-FFF2-40B4-BE49-F238E27FC236}">
                <a16:creationId xmlns:a16="http://schemas.microsoft.com/office/drawing/2014/main" id="{62541467-F770-14A2-9285-B99544128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3608348"/>
            <a:ext cx="5523082" cy="17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72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4E080F-FD72-48C6-0E93-B292CE9E5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US" sz="3000" b="1" u="sng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Satisfaction Analysis</a:t>
            </a:r>
            <a:br>
              <a:rPr lang="en-US" sz="3000" dirty="0"/>
            </a:br>
            <a:endParaRPr lang="en-US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66932-B644-FFF7-2341-2267880F2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IN" sz="13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Takeaways</a:t>
            </a:r>
            <a:endParaRPr lang="en-IN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IN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satisfaction reflects engagement with the platform and overall shopping experience.</a:t>
            </a:r>
          </a:p>
          <a:p>
            <a:pPr>
              <a:buFont typeface="Wingdings" pitchFamily="2" charset="2"/>
              <a:buChar char="v"/>
            </a:pPr>
            <a:r>
              <a:rPr lang="en-IN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average customer rating is </a:t>
            </a:r>
            <a:r>
              <a:rPr lang="en-IN" sz="13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2.73</a:t>
            </a:r>
            <a:r>
              <a:rPr lang="en-IN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indicating moderate satisfaction.</a:t>
            </a:r>
          </a:p>
          <a:p>
            <a:pPr>
              <a:buFont typeface="Wingdings" pitchFamily="2" charset="2"/>
              <a:buChar char="v"/>
            </a:pPr>
            <a:r>
              <a:rPr lang="en-IN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Low-priced products tend to receive </a:t>
            </a:r>
            <a:r>
              <a:rPr lang="en-IN" sz="13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4–5 star ratings</a:t>
            </a:r>
            <a:r>
              <a:rPr lang="en-IN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IN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Shorter delivery times are associated with higher customer ratings.</a:t>
            </a:r>
          </a:p>
          <a:p>
            <a:endParaRPr lang="en-US" sz="1100" dirty="0"/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FD832356-5F64-2DCA-9211-E25D7BC7E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3025581"/>
            <a:ext cx="5481509" cy="2891496"/>
          </a:xfrm>
          <a:prstGeom prst="rect">
            <a:avLst/>
          </a:prstGeom>
        </p:spPr>
      </p:pic>
      <p:pic>
        <p:nvPicPr>
          <p:cNvPr id="7" name="Picture 6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2E12E025-4FB1-E9C4-8A2B-7D3CCE51B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3056039"/>
            <a:ext cx="5523082" cy="283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867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D0554-8139-1A45-803F-D917BC76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7EDAD-9E0D-7F43-DDAA-E3E78263B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 fontScale="90000"/>
          </a:bodyPr>
          <a:lstStyle/>
          <a:p>
            <a:br>
              <a:rPr lang="en-US" sz="3300" b="1" u="sng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300" b="1" u="sng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Loyalty Program</a:t>
            </a:r>
            <a:br>
              <a:rPr lang="en-US" sz="2700" dirty="0"/>
            </a:br>
            <a:br>
              <a:rPr lang="en-US" sz="2700" dirty="0"/>
            </a:br>
            <a:endParaRPr lang="en-US" sz="2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7EAEA-EA38-356C-E9D9-A8F3A726A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IN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Takeaways</a:t>
            </a:r>
            <a:endParaRPr lang="en-IN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loyalty programs can encourage repeat purchases and increase engagement.</a:t>
            </a:r>
          </a:p>
          <a:p>
            <a:pPr>
              <a:buFont typeface="Wingdings" pitchFamily="2" charset="2"/>
              <a:buChar char="v"/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segmentation shows </a:t>
            </a:r>
            <a:r>
              <a:rPr lang="en-IN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85.22%</a:t>
            </a: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fall into the low-spending group.</a:t>
            </a:r>
          </a:p>
          <a:p>
            <a:pPr>
              <a:buFont typeface="Wingdings" pitchFamily="2" charset="2"/>
              <a:buChar char="v"/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High-revenue products currently receive low average discounts.</a:t>
            </a:r>
          </a:p>
          <a:p>
            <a:pPr>
              <a:buFont typeface="Wingdings" pitchFamily="2" charset="2"/>
              <a:buChar char="v"/>
            </a:pPr>
            <a:r>
              <a:rPr lang="en-I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Strategic discounts on these products could further boost sales and revenue.</a:t>
            </a:r>
          </a:p>
          <a:p>
            <a:endParaRPr lang="en-US" sz="1100" dirty="0"/>
          </a:p>
        </p:txBody>
      </p:sp>
      <p:pic>
        <p:nvPicPr>
          <p:cNvPr id="4" name="Picture 3" descr="A pie chart with numbers and a yellow circle&#10;&#10;AI-generated content may be incorrect.">
            <a:extLst>
              <a:ext uri="{FF2B5EF4-FFF2-40B4-BE49-F238E27FC236}">
                <a16:creationId xmlns:a16="http://schemas.microsoft.com/office/drawing/2014/main" id="{C1C61028-FACD-841A-48FA-5D36F0F59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2840580"/>
            <a:ext cx="5481509" cy="3261498"/>
          </a:xfrm>
          <a:prstGeom prst="rect">
            <a:avLst/>
          </a:prstGeom>
        </p:spPr>
      </p:pic>
      <p:pic>
        <p:nvPicPr>
          <p:cNvPr id="6" name="Picture 5" descr="A graph of sales and revenue&#10;&#10;AI-generated content may be incorrect.">
            <a:extLst>
              <a:ext uri="{FF2B5EF4-FFF2-40B4-BE49-F238E27FC236}">
                <a16:creationId xmlns:a16="http://schemas.microsoft.com/office/drawing/2014/main" id="{E59A5836-C86E-4C8A-5A7D-F0A3B6884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3000809"/>
            <a:ext cx="5523082" cy="294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67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75BEF-F031-5F10-D00D-992AEFB18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654" y="282406"/>
            <a:ext cx="4732638" cy="706136"/>
          </a:xfrm>
        </p:spPr>
        <p:txBody>
          <a:bodyPr>
            <a:normAutofit fontScale="90000"/>
          </a:bodyPr>
          <a:lstStyle/>
          <a:p>
            <a:r>
              <a:rPr lang="en-US" sz="3300" b="1" u="sng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– Main Tab</a:t>
            </a:r>
            <a:br>
              <a:rPr lang="en-US" dirty="0">
                <a:solidFill>
                  <a:srgbClr val="006666"/>
                </a:solidFill>
              </a:rPr>
            </a:b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0565E8-851D-1501-7F88-625DFE473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811" y="790834"/>
            <a:ext cx="11952377" cy="564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725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6F60-4EEE-87D0-2998-E0A5C15D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397" y="11133"/>
            <a:ext cx="2189206" cy="845837"/>
          </a:xfrm>
        </p:spPr>
        <p:txBody>
          <a:bodyPr>
            <a:normAutofit fontScale="90000"/>
          </a:bodyPr>
          <a:lstStyle/>
          <a:p>
            <a:r>
              <a:rPr lang="en-US" sz="3000" b="1" u="sng" dirty="0">
                <a:solidFill>
                  <a:schemeClr val="accent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Product Tab</a:t>
            </a:r>
            <a:br>
              <a:rPr lang="en-US" sz="3000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C40A73-E91A-6E96-773B-3E338CF49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84" y="856970"/>
            <a:ext cx="11972124" cy="565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967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0A53F-68EE-7B96-D3BE-969E8E2EA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5213" y="131161"/>
            <a:ext cx="4141573" cy="894450"/>
          </a:xfrm>
        </p:spPr>
        <p:txBody>
          <a:bodyPr>
            <a:normAutofit fontScale="90000"/>
          </a:bodyPr>
          <a:lstStyle/>
          <a:p>
            <a:r>
              <a:rPr lang="en-US" sz="3300" b="1" u="sng" dirty="0">
                <a:solidFill>
                  <a:schemeClr val="accent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Individual Product Tab</a:t>
            </a:r>
            <a:br>
              <a:rPr lang="en-US" dirty="0">
                <a:solidFill>
                  <a:srgbClr val="00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5" name="Content Placeholder 4" descr="A close-up of a chart&#10;&#10;AI-generated content may be incorrect.">
            <a:extLst>
              <a:ext uri="{FF2B5EF4-FFF2-40B4-BE49-F238E27FC236}">
                <a16:creationId xmlns:a16="http://schemas.microsoft.com/office/drawing/2014/main" id="{F221B567-23CB-1627-2278-1572E3AC1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265" y="654908"/>
            <a:ext cx="12017152" cy="607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410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CAA55-CDBB-F3C2-7505-7CE5A0D3C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151" y="365126"/>
            <a:ext cx="3274542" cy="1055902"/>
          </a:xfrm>
        </p:spPr>
        <p:txBody>
          <a:bodyPr>
            <a:normAutofit fontScale="90000"/>
          </a:bodyPr>
          <a:lstStyle/>
          <a:p>
            <a:r>
              <a:rPr lang="en-US" sz="3300" b="1" u="sng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</a:t>
            </a:r>
            <a:br>
              <a:rPr lang="en-US" dirty="0">
                <a:solidFill>
                  <a:srgbClr val="006666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F04F5-41D3-756E-475A-C80047D9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IN" b="1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Boost Retention:</a:t>
            </a:r>
            <a:r>
              <a:rPr lang="en-IN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Implement loyalty programs with special rewards for repeat customers.</a:t>
            </a:r>
          </a:p>
          <a:p>
            <a:pPr>
              <a:lnSpc>
                <a:spcPct val="120000"/>
              </a:lnSpc>
            </a:pPr>
            <a:r>
              <a:rPr lang="en-IN" b="1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Strengthen Value:</a:t>
            </a:r>
            <a:r>
              <a:rPr lang="en-IN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Enhance Prime benefits and deliver personalized promotions.</a:t>
            </a:r>
          </a:p>
          <a:p>
            <a:pPr>
              <a:lnSpc>
                <a:spcPct val="120000"/>
              </a:lnSpc>
            </a:pPr>
            <a:r>
              <a:rPr lang="en-IN" b="1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Leverage Analytics:</a:t>
            </a:r>
            <a:r>
              <a:rPr lang="en-IN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Identify high-value customers to refine marketing strategies.</a:t>
            </a:r>
          </a:p>
          <a:p>
            <a:pPr>
              <a:lnSpc>
                <a:spcPct val="120000"/>
              </a:lnSpc>
            </a:pPr>
            <a:r>
              <a:rPr lang="en-IN" b="1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Utilize Feedback:</a:t>
            </a:r>
            <a:r>
              <a:rPr lang="en-IN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 customer insights to improve products and services.</a:t>
            </a:r>
          </a:p>
          <a:p>
            <a:pPr>
              <a:lnSpc>
                <a:spcPct val="120000"/>
              </a:lnSpc>
            </a:pPr>
            <a:r>
              <a:rPr lang="en-IN" b="1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Localize Marketing:</a:t>
            </a:r>
            <a:r>
              <a:rPr lang="en-IN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Develop region-specific offers and strategic partnerships.</a:t>
            </a:r>
          </a:p>
          <a:p>
            <a:pPr>
              <a:lnSpc>
                <a:spcPct val="120000"/>
              </a:lnSpc>
            </a:pPr>
            <a:r>
              <a:rPr lang="en-IN" b="1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Drive Engagement:</a:t>
            </a:r>
            <a:r>
              <a:rPr lang="en-IN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Adopt gamification, dynamic pricing, and interactive reward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57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0B06-BF71-E250-D36C-1DFC7FE63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7002" y="303341"/>
            <a:ext cx="2077995" cy="1105329"/>
          </a:xfrm>
        </p:spPr>
        <p:txBody>
          <a:bodyPr>
            <a:normAutofit fontScale="90000"/>
          </a:bodyPr>
          <a:lstStyle/>
          <a:p>
            <a:r>
              <a:rPr lang="en-US" sz="3300" b="1" u="sng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br>
              <a:rPr lang="en-US" dirty="0">
                <a:solidFill>
                  <a:srgbClr val="006666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32CCC-B8A9-4A54-0784-99799FF55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Amazon is performing strongly but must continue enhancing its competitive advantage and customer satisfaction.</a:t>
            </a:r>
          </a:p>
          <a:p>
            <a:r>
              <a:rPr lang="en-IN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Targeting high-value customers with tailored rewards can improve loyalty.</a:t>
            </a:r>
          </a:p>
          <a:p>
            <a:r>
              <a:rPr lang="en-IN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Using data analytics and customer feedback will drive continuous improvement in customer experience.</a:t>
            </a:r>
          </a:p>
          <a:p>
            <a:r>
              <a:rPr lang="en-IN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Expanding Prime benefits and personalized offers will help attract and retain customers.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174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D198E2-3706-2F9D-B088-D5EFFDCB3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174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585</Words>
  <Application>Microsoft Macintosh PowerPoint</Application>
  <PresentationFormat>Widescreen</PresentationFormat>
  <Paragraphs>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Courier New</vt:lpstr>
      <vt:lpstr>Lato</vt:lpstr>
      <vt:lpstr>Times New Roman</vt:lpstr>
      <vt:lpstr>Wingdings</vt:lpstr>
      <vt:lpstr>Office Theme</vt:lpstr>
      <vt:lpstr>PowerPoint Presentation</vt:lpstr>
      <vt:lpstr>Agenda </vt:lpstr>
      <vt:lpstr>Introduction </vt:lpstr>
      <vt:lpstr>Problem Statement </vt:lpstr>
      <vt:lpstr>Approach </vt:lpstr>
      <vt:lpstr>Key Performance Indicators </vt:lpstr>
      <vt:lpstr>Key Performance Indicators</vt:lpstr>
      <vt:lpstr>Revenue Distribution Analysis  </vt:lpstr>
      <vt:lpstr>Periodic And Geographical Analysis </vt:lpstr>
      <vt:lpstr>Product Analysis </vt:lpstr>
      <vt:lpstr>Customer Satisfaction Analysis </vt:lpstr>
      <vt:lpstr> Customer Loyalty Program  </vt:lpstr>
      <vt:lpstr>Report – Main Tab </vt:lpstr>
      <vt:lpstr>Product Tab </vt:lpstr>
      <vt:lpstr>Individual Product Tab </vt:lpstr>
      <vt:lpstr>Recommendation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Amar Amar</dc:creator>
  <cp:lastModifiedBy>Amar Amar</cp:lastModifiedBy>
  <cp:revision>17</cp:revision>
  <dcterms:created xsi:type="dcterms:W3CDTF">2026-02-27T22:18:04Z</dcterms:created>
  <dcterms:modified xsi:type="dcterms:W3CDTF">2026-02-28T19:29:51Z</dcterms:modified>
</cp:coreProperties>
</file>